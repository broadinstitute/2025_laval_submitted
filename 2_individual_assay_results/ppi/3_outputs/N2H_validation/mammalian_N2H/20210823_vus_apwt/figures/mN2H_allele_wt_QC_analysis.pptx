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0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 snapToObjects="1">
      <p:cViewPr>
        <p:scale>
          <a:sx n="90" d="100"/>
          <a:sy n="90" d="100"/>
        </p:scale>
        <p:origin x="143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734A7-66F8-9F40-A170-5FCC87FF1B9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FDB6F-CF74-644D-9ECF-808F8368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8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0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3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0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0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4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5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5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0B0C2-7250-B748-8B50-A800FA957208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94BED-A4C4-BE4B-A1C2-54543D9F1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4" Type="http://schemas.openxmlformats.org/officeDocument/2006/relationships/image" Target="../media/image7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4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6" y="84931"/>
            <a:ext cx="10515600" cy="1325563"/>
          </a:xfrm>
        </p:spPr>
        <p:txBody>
          <a:bodyPr/>
          <a:lstStyle/>
          <a:p>
            <a:r>
              <a:rPr lang="en-US" dirty="0" smtClean="0"/>
              <a:t>Empty wells background noise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6" y="1600200"/>
            <a:ext cx="3579018" cy="23860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6" y="4365624"/>
            <a:ext cx="3579018" cy="23860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1562893"/>
            <a:ext cx="3634979" cy="2423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4365624"/>
            <a:ext cx="3634979" cy="24233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15288" y="1935956"/>
            <a:ext cx="3000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Low  mN2H raw signal in expected empty wells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1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0"/>
            <a:ext cx="10515600" cy="60007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Allele experiment (July)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597" y="625342"/>
            <a:ext cx="4143375" cy="300368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600073"/>
            <a:ext cx="4143377" cy="30036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97" y="3854320"/>
            <a:ext cx="4143375" cy="3003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4283" y="2614613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Pearson  r = 0.99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06580" y="2614613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Pearson  r = 0.98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35258" y="5618293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Pearson  r = 0.68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291930" y="4073993"/>
            <a:ext cx="7958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B1 = biological replicate 1 (average of B1 technical 1 and B1 technical 2)</a:t>
            </a:r>
          </a:p>
          <a:p>
            <a:r>
              <a:rPr lang="en-US" dirty="0" smtClean="0"/>
              <a:t>B2 = biological replicate 2 (average of B2 technical 1 and B2 technical 2)</a:t>
            </a:r>
          </a:p>
          <a:p>
            <a:endParaRPr lang="en-US" dirty="0" smtClean="0"/>
          </a:p>
          <a:p>
            <a:r>
              <a:rPr lang="en-US" dirty="0" smtClean="0"/>
              <a:t>B1R1 = Biological replicate 1 technical replicate 1</a:t>
            </a:r>
          </a:p>
          <a:p>
            <a:r>
              <a:rPr lang="en-US" dirty="0" smtClean="0"/>
              <a:t>B1R2 = Biological replicate 1 technical replicate 2</a:t>
            </a:r>
          </a:p>
          <a:p>
            <a:r>
              <a:rPr lang="en-US" dirty="0" smtClean="0"/>
              <a:t>B2R1 = Biological replicate 2 technical replicate 1</a:t>
            </a:r>
          </a:p>
          <a:p>
            <a:r>
              <a:rPr lang="en-US" dirty="0" smtClean="0"/>
              <a:t>B2R2 = Biological replicate 2 technical replicate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3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0"/>
            <a:ext cx="10515600" cy="60007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Wild-Type experiment (March)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20" y="819148"/>
            <a:ext cx="4052789" cy="28860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5" y="819148"/>
            <a:ext cx="4105967" cy="29765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" y="3924298"/>
            <a:ext cx="4098860" cy="29337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54283" y="2614613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Pearson  r = 0.99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511154" y="2799279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Pearson  r = 0.99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579655" y="5779294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Pearson  r = 0.92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20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Plates correlation between each biological replicates</a:t>
            </a:r>
            <a:endParaRPr lang="en-US" dirty="0"/>
          </a:p>
        </p:txBody>
      </p:sp>
      <p:pic>
        <p:nvPicPr>
          <p:cNvPr id="1026" name="Picture 2" descr="https://lh5.googleusercontent.com/BF27Wef-HRHr8Pr1JcQawwOvX-28pHy9jcHLUe3WSJMgUaXrFrnZ7fWOqhgiM8-PoCHJWeF_WnlGL1S1pvgrH9sI5Nky2rdk2vmnHKOePuNhQ_aXgD6IUQGAGgeBVEC5sEXEQ2AE4j0=s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19313"/>
            <a:ext cx="6172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991350" y="320498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High correlation pairs</a:t>
            </a:r>
            <a:endParaRPr lang="en-US" dirty="0">
              <a:solidFill>
                <a:srgbClr val="000000"/>
              </a:solidFill>
            </a:endParaRPr>
          </a:p>
          <a:p>
            <a:pPr fontAlgn="base"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N1-N2 correlation ≥ 0.9</a:t>
            </a:r>
          </a:p>
          <a:p>
            <a:pPr fontAlgn="base"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N1-empty N2 correlation ≥ 0.9</a:t>
            </a:r>
          </a:p>
          <a:p>
            <a:pPr fontAlgn="base"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N2-empty N1 correlation ≥ 0.9</a:t>
            </a:r>
            <a:endParaRPr lang="en-US" b="0" i="0" u="none" strike="noStrike" dirty="0"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7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Remaining data after filtering high correlation pairs between biological </a:t>
            </a:r>
            <a:r>
              <a:rPr lang="en-US" dirty="0" smtClean="0"/>
              <a:t>replicates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dirty="0">
                <a:solidFill>
                  <a:srgbClr val="000000"/>
                </a:solidFill>
              </a:rPr>
              <a:t> 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dirty="0">
                <a:solidFill>
                  <a:srgbClr val="000000"/>
                </a:solidFill>
              </a:rPr>
              <a:t> </a:t>
            </a:r>
            <a:endParaRPr lang="en-US" dirty="0"/>
          </a:p>
        </p:txBody>
      </p:sp>
      <p:pic>
        <p:nvPicPr>
          <p:cNvPr id="2053" name="Picture 5" descr="https://lh4.googleusercontent.com/rGFDP9HeFUSLBZmRqjppnQOvrQeCOXa52vrcthLQI8mZQX8mduEJf0kQ8XcyxP7wRGctIKth0zEZVKBUYUqk-Oqvj_2pZR3fHGArP__606lMveDSsh-Xqyr4z0JM11HY7F8HtqkjfnY=s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7145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https://lh6.googleusercontent.com/FS1o_S6UoeGgC49-X-8W41wjkvN0nI3LMITNlhGDByN3IOm3gmVJm_UAWy7r6T7Nmi3qZ779X15YgiariW44uh8_O4jLCefaj2WyVeDqGWkoM7WpvPCW1TaNN72RiN-UWR4HqfK9VXY=s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1690688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019300" y="14319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All pairs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38900" y="147163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charset="0"/>
              </a:rPr>
              <a:t>High correlation pairs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709737" y="5131593"/>
            <a:ext cx="20621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charset="0"/>
              </a:rPr>
              <a:t>Pearson r = 0.63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919913" y="5119689"/>
            <a:ext cx="22526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Pearson r = 0.86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200525" y="5609719"/>
            <a:ext cx="60721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s-IS" sz="1400" u="sng" dirty="0" smtClean="0">
                <a:solidFill>
                  <a:srgbClr val="000000"/>
                </a:solidFill>
                <a:latin typeface="Arial" charset="0"/>
              </a:rPr>
              <a:t>	All	High </a:t>
            </a:r>
            <a:r>
              <a:rPr lang="is-IS" sz="1400" u="sng" dirty="0">
                <a:solidFill>
                  <a:srgbClr val="000000"/>
                </a:solidFill>
                <a:latin typeface="Arial" charset="0"/>
              </a:rPr>
              <a:t>correlation </a:t>
            </a:r>
            <a:r>
              <a:rPr lang="is-IS" sz="1400" u="sng" dirty="0" smtClean="0">
                <a:solidFill>
                  <a:srgbClr val="000000"/>
                </a:solidFill>
                <a:latin typeface="Arial" charset="0"/>
              </a:rPr>
              <a:t>	allele-wt </a:t>
            </a:r>
            <a:r>
              <a:rPr lang="is-IS" sz="1400" u="sng" dirty="0">
                <a:solidFill>
                  <a:srgbClr val="000000"/>
                </a:solidFill>
                <a:latin typeface="Arial" charset="0"/>
              </a:rPr>
              <a:t>pairs </a:t>
            </a:r>
            <a:endParaRPr lang="is-IS" sz="1400" dirty="0">
              <a:solidFill>
                <a:srgbClr val="000000"/>
              </a:solidFill>
              <a:latin typeface="Arial" charset="0"/>
            </a:endParaRPr>
          </a:p>
          <a:p>
            <a:r>
              <a:rPr lang="is-IS" sz="1400" dirty="0">
                <a:solidFill>
                  <a:srgbClr val="000000"/>
                </a:solidFill>
                <a:latin typeface="Arial" charset="0"/>
              </a:rPr>
              <a:t>allele    </a:t>
            </a:r>
            <a:r>
              <a:rPr lang="is-IS" sz="1400" dirty="0" smtClean="0">
                <a:solidFill>
                  <a:srgbClr val="000000"/>
                </a:solidFill>
                <a:latin typeface="Arial" charset="0"/>
              </a:rPr>
              <a:t>	830 	317 		245</a:t>
            </a:r>
            <a:endParaRPr lang="is-IS" sz="1400" dirty="0">
              <a:solidFill>
                <a:srgbClr val="000000"/>
              </a:solidFill>
            </a:endParaRPr>
          </a:p>
          <a:p>
            <a:r>
              <a:rPr lang="is-IS" sz="1400" dirty="0">
                <a:solidFill>
                  <a:srgbClr val="000000"/>
                </a:solidFill>
                <a:latin typeface="Arial" charset="0"/>
              </a:rPr>
              <a:t>wt        </a:t>
            </a:r>
            <a:r>
              <a:rPr lang="is-IS" sz="1400" dirty="0" smtClean="0">
                <a:solidFill>
                  <a:srgbClr val="000000"/>
                </a:solidFill>
                <a:latin typeface="Arial" charset="0"/>
              </a:rPr>
              <a:t>	248 	93 		93</a:t>
            </a:r>
            <a:endParaRPr lang="is-IS" sz="1400" dirty="0">
              <a:solidFill>
                <a:srgbClr val="000000"/>
              </a:solidFill>
            </a:endParaRPr>
          </a:p>
          <a:p>
            <a:r>
              <a:rPr lang="is-IS" sz="1400" dirty="0">
                <a:solidFill>
                  <a:srgbClr val="000000"/>
                </a:solidFill>
                <a:latin typeface="Arial" charset="0"/>
              </a:rPr>
              <a:t>RRS        </a:t>
            </a:r>
            <a:r>
              <a:rPr lang="is-IS" sz="1400" dirty="0" smtClean="0">
                <a:solidFill>
                  <a:srgbClr val="000000"/>
                </a:solidFill>
                <a:latin typeface="Arial" charset="0"/>
              </a:rPr>
              <a:t>	78 	26</a:t>
            </a:r>
            <a:endParaRPr lang="is-IS" sz="1400" dirty="0">
              <a:solidFill>
                <a:srgbClr val="000000"/>
              </a:solidFill>
            </a:endParaRPr>
          </a:p>
          <a:p>
            <a:r>
              <a:rPr lang="is-IS" sz="1400" dirty="0">
                <a:solidFill>
                  <a:srgbClr val="000000"/>
                </a:solidFill>
                <a:latin typeface="Arial" charset="0"/>
              </a:rPr>
              <a:t>PRS        </a:t>
            </a:r>
            <a:r>
              <a:rPr lang="is-IS" sz="1400" dirty="0" smtClean="0">
                <a:solidFill>
                  <a:srgbClr val="000000"/>
                </a:solidFill>
                <a:latin typeface="Arial" charset="0"/>
              </a:rPr>
              <a:t>	60 	23</a:t>
            </a:r>
            <a:endParaRPr lang="is-IS" sz="1400" dirty="0">
              <a:solidFill>
                <a:srgbClr val="000000"/>
              </a:solidFill>
            </a:endParaRPr>
          </a:p>
          <a:p>
            <a:r>
              <a:rPr lang="is-IS" sz="1400" dirty="0"/>
              <a:t/>
            </a:r>
            <a:br>
              <a:rPr lang="is-IS" sz="1400" dirty="0"/>
            </a:br>
            <a:r>
              <a:rPr lang="is-IS" sz="1400" dirty="0"/>
              <a:t/>
            </a:r>
            <a:br>
              <a:rPr lang="is-I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8023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911" y="0"/>
            <a:ext cx="1120616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PRS-RRSv2 - correlation between March and July </a:t>
            </a:r>
            <a:r>
              <a:rPr lang="en-US" dirty="0" err="1" smtClean="0"/>
              <a:t>xp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044793"/>
            <a:ext cx="20240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All </a:t>
            </a:r>
            <a:endParaRPr lang="en-US" dirty="0" smtClean="0">
              <a:solidFill>
                <a:srgbClr val="000000"/>
              </a:solidFill>
              <a:latin typeface="Arial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PRS-RRS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241351"/>
            <a:ext cx="31670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</a:rPr>
              <a:t>High correlation </a:t>
            </a:r>
            <a:endParaRPr lang="en-US" dirty="0" smtClean="0">
              <a:solidFill>
                <a:srgbClr val="000000"/>
              </a:solidFill>
              <a:latin typeface="Arial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PRS-RRS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3074" name="Picture 2" descr="https://lh3.googleusercontent.com/f2xXfiuQ8ed7HHwLZhBTGeSSLnLD2Epa4pDr-QEIjTjQyS1NwIhmMC7gXeREMEOkMXfW38sTgA0onJ-qCcvRBhn7EsXqSmkpLRtzSmzZjriM8SMmSdMaj9HmA9bqrp3oM2qo6DBVFJo=s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043" y="890544"/>
            <a:ext cx="32004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lh4.googleusercontent.com/RWzw9l86ddEmYNpuFgT8v90CucMzRP0agZ2m0ZMUt9BLgncmYpbWFAVSoUNhEpJgQ77Qkqfsz2gYDMy3IuA7Of5w4gGpmqZzjsSroEcOU7vWd090tp5oL_0OPPhrNweQKS3VnZVqRtE=s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383" y="869364"/>
            <a:ext cx="319087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lh4.googleusercontent.com/Lje81WZpmdTXDycRymX3T-bLJRn_t_cv0eA_MjgrsHSgCL2q98kcTxyBlCdC65RqJ56qMmqclrAIZIiPmt4BGWxrx3oj1YUE-AALc9JCmQ6HPlaPd1mh7JIT4XmBeMqzdhS5naHkneg=s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199" y="869364"/>
            <a:ext cx="319087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lh4.googleusercontent.com/_ASowVXZBZCF_zHbj0y7uJddjzLg1eh8y3HgwvHl5KPgurBTQNp9OwBPYbM3aiWDg5TSuJuFUorafMdA3QM2ScGDfoRXOLgn0waYKR9LCLAd7ljzS5wepyF5A2aoK1ZZaRuLghLOQUA=s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3" y="4400550"/>
            <a:ext cx="32004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ttps://lh5.googleusercontent.com/whG5m7Nqc4_XEMX2ycsooWjVP9vC6PgvhNCnQErlLboe5XfrLS44xfBLaXILQ2eoMqSYHswoREjcTv71qXy4HgSKzG-68Nyv8xq1iW0AZz8U2sWXpUenpH8QraBhoshUdOiERKqNcnE=s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383" y="4370935"/>
            <a:ext cx="319087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https://lh4.googleusercontent.com/CLe-25ZD6OeCEulFyUCFXKnofTwwI_7kVRUGtSmNtuvo8kT0c2Y9kdgw3zg-8ndBsBY1w22VIlQUvuzj5duyjokaiRbjmRtBQ5bsfYVLDK0D2TGqPscVLxUgqgopFnL-WCVJm3SCntU=s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199" y="4370934"/>
            <a:ext cx="319087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2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Correlation PRS-RRS (March) vs </a:t>
            </a:r>
            <a:r>
              <a:rPr lang="en-US" dirty="0" err="1" smtClean="0"/>
              <a:t>Chooi</a:t>
            </a:r>
            <a:r>
              <a:rPr lang="en-US" dirty="0" smtClean="0"/>
              <a:t> et 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5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365125"/>
            <a:ext cx="11272838" cy="1325563"/>
          </a:xfrm>
        </p:spPr>
        <p:txBody>
          <a:bodyPr/>
          <a:lstStyle/>
          <a:p>
            <a:r>
              <a:rPr lang="en-US" dirty="0"/>
              <a:t>WT  PPIs - correlation between March and July </a:t>
            </a:r>
            <a:r>
              <a:rPr lang="en-US" dirty="0" err="1"/>
              <a:t>xp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2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33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5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8887</TotalTime>
  <Words>179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Office Theme</vt:lpstr>
      <vt:lpstr>Empty wells background noise</vt:lpstr>
      <vt:lpstr>Allele experiment (July)</vt:lpstr>
      <vt:lpstr>Wild-Type experiment (March)</vt:lpstr>
      <vt:lpstr>Plates correlation between each biological replicates</vt:lpstr>
      <vt:lpstr>Remaining data after filtering high correlation pairs between biological replicates </vt:lpstr>
      <vt:lpstr>PRS-RRSv2 - correlation between March and July xp </vt:lpstr>
      <vt:lpstr>Correlation PRS-RRS (March) vs Chooi et al</vt:lpstr>
      <vt:lpstr>WT  PPIs - correlation between March and July xp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Allele experiment</dc:title>
  <dc:creator>Coppin, Georges</dc:creator>
  <cp:lastModifiedBy>Coppin, Georges</cp:lastModifiedBy>
  <cp:revision>9</cp:revision>
  <cp:lastPrinted>2021-08-25T14:57:22Z</cp:lastPrinted>
  <dcterms:created xsi:type="dcterms:W3CDTF">2021-08-25T14:26:55Z</dcterms:created>
  <dcterms:modified xsi:type="dcterms:W3CDTF">2021-09-01T17:30:19Z</dcterms:modified>
</cp:coreProperties>
</file>